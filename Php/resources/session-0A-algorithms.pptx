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"Today we write no code at all. That is deliberate - it is how your lecturer starts, and it is the easiest part of the exam." Editor closed. Pen and paper at both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this slide. The reason she will resist a no-code lesson is that it feels like not starting. Name that, then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stack live rather than reading it. Then hand her the pen: her own morning routine, numbered. Getting her drawing in the first ten minutes sets the tone for all eleven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"Is a recipe an algorithm? Why?" Let her argue it out loud - all three rules fall out of the answer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them in order, then circle number 4 with the annotate pen and ask: "where do flowcharts live?" Answer: phase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verb list visible for the rest of the session. Every time she writes a wordy line, point 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what the marker is reading. Writing correct logic in the wrong notation still loses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right down here. Say it, write it, then ask her to say it back in her own words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each shape by hand as you name it, even though it is on the slide. The hand movement is what makes the shape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fill the boxes in. Ask her what goes in each one, draw her answer with the annotate pen, then show the matching pseudocode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 the middle row live. It is the same point as the arrow slide, said a second way - repetition here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pseudocode out loud line by line. Do not trace it yet - the next slide is 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five minutes of the session. Silence. If she stalls, ask "which one is bigger?" and nothing else. Answer is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slide. Say plainly: "this is what a good algorithm buys you." Then mention the 60 vs 10 pass mark difference between her lecturer and our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something she got right today, by name. Then stop - do not add one more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371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4F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MIT320  ·  LESSON 1  ·  SESSION 0A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682496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151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Flowcharts, pseudocode — and no code at all today.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3310128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F2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 LOOKS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design it before you type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programmer who skips this step writes code that works and solves the wrong problem. Your lecturer starts here for a reason.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5420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523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her Lesson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out of the MIT320 deck, not from the textbook.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2552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36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cheapest marks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cannot fail to compile.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9684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lesson 5 easy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Euclid today is tracing a loop later.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481328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E3F1EE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205740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program built on a wrong design is wrong no matter how neatly it is typed.”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3611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is phase 4 of 6.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WRITE THIS ONE DOWN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step-by-step procedure for solving a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4114800" cy="2651760"/>
          </a:xfrm>
          <a:prstGeom prst="roundRect">
            <a:avLst>
              <a:gd name="adj" fmla="val 2069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401568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1518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4015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401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the water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28346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15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6128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tea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25296" y="2267712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15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62456" y="22677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682496" y="2267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 minutes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136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order  ·  it stops  ·  it gives an answer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0" y="1536192"/>
            <a:ext cx="365760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875">
            <a:solidFill>
              <a:srgbClr val="B5541F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983480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her for one, and draw it here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turn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157984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an algorithm you already follow every morning.”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 steps on the board in a second colour. They are her words, so keep them looking like hers.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or it is not an algorithm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something. Two numbers, four marks, a word.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74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result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something back. Answering nothing does not count.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874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B554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stops, after a finite number of steps.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584448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BEDE4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7673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55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loop where nothing ever changes is not a slow algorithm. It is not an algorithm at all.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THIS AS A WRITTEN QUESTION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Program Development Life 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55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7465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31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it must solve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755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05072" y="17465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231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processes, outputs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572768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556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93992" y="17465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development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231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live here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779776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BEDE4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962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B554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16152" y="2953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4381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documentation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779776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2962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204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05072" y="2953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debugging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34381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find the bugs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779776"/>
            <a:ext cx="2560320" cy="1024128"/>
          </a:xfrm>
          <a:prstGeom prst="roundRect">
            <a:avLst>
              <a:gd name="adj" fmla="val 5357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962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7B6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93992" y="29535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4381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fixing it after launch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is phase 4 of 6. Most of the job happens before you type, and a good chunk after you think you have finished.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WAY TO WRITE 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English, one thing per 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297680" cy="1737360"/>
          </a:xfrm>
          <a:prstGeom prst="roundRect">
            <a:avLst>
              <a:gd name="adj" fmla="val 3158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719072"/>
            <a:ext cx="3895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Initialize sum to 0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Enter the two numbers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Add them, store in sum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Print sum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lines, each doing exactly one thing, in order. That is a complete algorithm.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74920" y="1572768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924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verbs you need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194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out / store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read, write, compute, set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697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add, subtract, multiply, divide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200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 to, less than, greater than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703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for, while, if, halt, exit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HER LECTURER'S NOTATION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is fake 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syntax rules, so it cannot give a syntax error. Never compiled, never run. Translates into any language afterwards.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21408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7F6F3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2121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has a name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1214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GCD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23744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25237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in square brackets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5237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[returns the greatest common divisor]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7F6F3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2926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CAPITALS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9260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GRADE, M1, 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28416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" y="33284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is a left arrow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3284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5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&lt;-- (M1+M2+M3+M4)/4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30752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7F6F3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37307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7307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if-then, if-then-else, endif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33088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" y="4133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1330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Repeat, for, while, until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LOST MARK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arrow, and the two equals signs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86200" cy="2148840"/>
          </a:xfrm>
          <a:prstGeom prst="roundRect">
            <a:avLst>
              <a:gd name="adj" fmla="val 2553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pseudocode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&lt;--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value 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807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question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886200" cy="2148840"/>
          </a:xfrm>
          <a:prstGeom prst="roundRect">
            <a:avLst>
              <a:gd name="adj" fmla="val 2553"/>
            </a:avLst>
          </a:prstGeom>
          <a:solidFill>
            <a:srgbClr val="FBEDE4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PHP — they swap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5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value 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743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question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9502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jobs, different symbols in each language. Mixing them up is the single most common mark lost on this topic — and the bug she will spend longest on in session 4.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SHAPES, THAT IS 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flowchart alphabet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37160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1518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1463040" cy="713232"/>
          </a:xfrm>
          <a:prstGeom prst="flowChartInputOutput">
            <a:avLst/>
          </a:prstGeom>
          <a:solidFill>
            <a:srgbClr val="FFFFFF"/>
          </a:solidFill>
          <a:ln w="17780">
            <a:solidFill>
              <a:srgbClr val="151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82880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Print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1828800"/>
            <a:ext cx="1371600" cy="713232"/>
          </a:xfrm>
          <a:prstGeom prst="rect">
            <a:avLst/>
          </a:prstGeom>
          <a:solidFill>
            <a:srgbClr val="FFFFFF"/>
          </a:solidFill>
          <a:ln w="17780">
            <a:solidFill>
              <a:srgbClr val="15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8288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step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0" y="1627632"/>
            <a:ext cx="1737360" cy="1115568"/>
          </a:xfrm>
          <a:prstGeom prst="flowChartDecision">
            <a:avLst/>
          </a:prstGeom>
          <a:solidFill>
            <a:srgbClr val="FBEDE4"/>
          </a:solidFill>
          <a:ln w="17780">
            <a:solidFill>
              <a:srgbClr val="B554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627632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B 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2185416"/>
            <a:ext cx="822960" cy="0"/>
          </a:xfrm>
          <a:prstGeom prst="line">
            <a:avLst/>
          </a:prstGeom>
          <a:noFill/>
          <a:ln w="20320">
            <a:solidFill>
              <a:srgbClr val="5C616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02920" y="2907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907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907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9077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2907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7F6F3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that cost marks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8587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It must have a Start AND a Stop.          2.  Every step must connect — nothing left hanging.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THIS ONE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has exactly two ways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566160" y="1481328"/>
            <a:ext cx="2011680" cy="1005840"/>
          </a:xfrm>
          <a:prstGeom prst="flowChartDecision">
            <a:avLst/>
          </a:prstGeom>
          <a:solidFill>
            <a:srgbClr val="FBEDE4"/>
          </a:solidFill>
          <a:ln w="19050">
            <a:solidFill>
              <a:srgbClr val="B554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14813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&gt; B 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2944368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B5541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051560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—  draw 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2944368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B5541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623560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—  draw it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315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1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side ever runs.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DIAMOND IS ALLOWED TO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operators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4088" y="1572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572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7F6F3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1865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865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865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2267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267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670048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BEDE4"/>
          </a:solidFill>
          <a:ln w="15240">
            <a:solidFill>
              <a:srgbClr val="B554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26700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670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072384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" y="3072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072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474720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7F6F3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or equal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3877056"/>
            <a:ext cx="8138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2DF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" y="38770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606040" y="38770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row is the trap. Pseudocode = becomes PHP ==.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HER SLIDES THREE TIMES OVER — EXPECT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Euclid's algorithm, roughly 300 BC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212080" cy="2514600"/>
          </a:xfrm>
          <a:prstGeom prst="roundRect">
            <a:avLst>
              <a:gd name="adj" fmla="val 2182"/>
            </a:avLst>
          </a:prstGeom>
          <a:solidFill>
            <a:srgbClr val="15181C"/>
          </a:solidFill>
          <a:ln w="12700">
            <a:solidFill>
              <a:srgbClr val="1518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700784"/>
            <a:ext cx="480974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GCD  [greatest common divisor of two positives]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Read : A, B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X &lt;-- A,  Y &lt;-- B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Repeat steps 4 to 5 while (X != Y)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if X &gt; Y then X &lt;-- X - Y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if Y &gt; X then Y &lt;-- Y - X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Write : "Greatest common divisor: ", X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Exit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0" y="1554480"/>
            <a:ext cx="2697480" cy="2514600"/>
          </a:xfrm>
          <a:prstGeom prst="roundRect">
            <a:avLst>
              <a:gd name="adj" fmla="val 2182"/>
            </a:avLst>
          </a:prstGeom>
          <a:solidFill>
            <a:srgbClr val="E3F1EE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idea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2140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subtracting the smaller from the larger until they are equal.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value is the answer.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what your computer uses to reduce a fraction. Two thousand years, and nobody found better.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TURN — YOU WRITE NOTHING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GCD(48, 18)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9385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9385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322576"/>
            <a:ext cx="35661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3957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23957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2779776"/>
            <a:ext cx="35661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28529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8529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3236976"/>
            <a:ext cx="35661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3310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310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3694176"/>
            <a:ext cx="35661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37673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7673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4151376"/>
            <a:ext cx="3566160" cy="0"/>
          </a:xfrm>
          <a:prstGeom prst="line">
            <a:avLst/>
          </a:prstGeom>
          <a:noFill/>
          <a:ln w="12700">
            <a:solidFill>
              <a:srgbClr val="E2DF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43159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fills every row, out loud, with the annotate pen.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nothing until she stops.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55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LESSON IS IN A PHP COURSE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for line, the design becomes the 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8D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86537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65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M1, M2, M3, M4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65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$m1 = 15; $m2 = 12; 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3113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23113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231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&lt;-- (M1+...+M4)/4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31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$grade = ($m1 + ... ) / 4;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59689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596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(GRADE &lt; 60) then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96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($grade &lt; 60) {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6265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9626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"FAIL"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9626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"FAIL";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2841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32841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69417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69417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694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"PASS"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694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"PASS";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5993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059936"/>
            <a:ext cx="3977640" cy="310896"/>
          </a:xfrm>
          <a:prstGeom prst="roundRect">
            <a:avLst>
              <a:gd name="adj" fmla="val 11765"/>
            </a:avLst>
          </a:prstGeom>
          <a:solidFill>
            <a:srgbClr val="F7F6F3"/>
          </a:solidFill>
          <a:ln w="8890">
            <a:solidFill>
              <a:srgbClr val="E2DF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059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059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B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pseudocode line became exactly one PHP line. The hard thinking was already done — typing it was mechanical.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051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F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TIME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3502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212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2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exercises.php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441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lecturer's own five questions. Nothing is solved for you.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2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 algorithm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 step. Then make someone follow it exactly, doing nothing you did not write.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393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F2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3621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silly flowchart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3867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3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decision in it. Proper start, proper stop.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3774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i="1" dirty="0">
                <a:solidFill>
                  <a:srgbClr val="4FC2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you can trace Euclid by hand, you can trace a loop.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i="1" dirty="0">
                <a:solidFill>
                  <a:srgbClr val="4FC2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the whole of lesson 5.”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0A - Algorithms</dc:title>
  <dc:subject>PptxGenJS Presentation</dc:subject>
  <dc:creator>Ahmad</dc:creator>
  <cp:lastModifiedBy>Ahmad</cp:lastModifiedBy>
  <cp:revision>1</cp:revision>
  <dcterms:created xsi:type="dcterms:W3CDTF">2026-09-27T13:07:21Z</dcterms:created>
  <dcterms:modified xsi:type="dcterms:W3CDTF">2026-09-27T13:07:21Z</dcterms:modified>
</cp:coreProperties>
</file>